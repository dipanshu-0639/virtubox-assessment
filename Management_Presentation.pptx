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Order Status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</c:v>
                </c:pt>
                <c:pt idx="1">
                  <c:v>Refunded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73.76</c:v>
                </c:pt>
                <c:pt idx="1">
                  <c:v>14.3</c:v>
                </c:pt>
                <c:pt idx="2">
                  <c:v>11.94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Success Rate by Payment Method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Wallet</c:v>
                </c:pt>
                <c:pt idx="2">
                  <c:v>Card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74.07</c:v>
                </c:pt>
                <c:pt idx="1">
                  <c:v>73.79</c:v>
                </c:pt>
                <c:pt idx="2">
                  <c:v>73.61</c:v>
                </c:pt>
                <c:pt idx="3">
                  <c:v>73.54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7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D"/>
                </a:solidFill>
              </a:defRPr>
            </a:pPr>
            <a:r>
              <a:t>Customer 360 — Order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Management presentation | Supply Chain / Customer Order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300,000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Total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4688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221,280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Successful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4688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73.76%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Success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4688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45,455.18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Average Order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Business problem: understand overall order performance and identify areas where the business can reduce failed/refunded orders.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Opportunity: use customer/order-level data to identify product, payment and value segments that deserve management attention.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The analysis is designed to support practical decisions around operations, payments and product priorities.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D"/>
                </a:solidFill>
              </a:defRPr>
            </a:pPr>
            <a: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From raw order records to management-level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Dataset: Customer 360 / order-level customer transaction data sourced from Kaggle.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Scope used: 300,000 order records after processing.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Processing: cleaned inconsistent category values, handled data-quality issues, checked duplicates and prepared fields for analysis.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Analysis: descriptive statistics, status and payment-method comparisons, order-value segmentation, product ranking and monthly trend analysis.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Dashboard: Looker Studio was used to present the processed results with interactive filters.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828800"/>
            <a:ext cx="1234440" cy="6858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74D"/>
                </a:solidFill>
              </a:defRPr>
            </a:pPr>
            <a:r>
              <a:t>Raw data</a:t>
            </a:r>
          </a:p>
        </p:txBody>
      </p:sp>
      <p:sp>
        <p:nvSpPr>
          <p:cNvPr id="6" name="Chevron 5"/>
          <p:cNvSpPr/>
          <p:nvPr/>
        </p:nvSpPr>
        <p:spPr>
          <a:xfrm>
            <a:off x="8887967" y="1993392"/>
            <a:ext cx="320040" cy="347472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6840" y="1828800"/>
            <a:ext cx="1234440" cy="6858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74D"/>
                </a:solidFill>
              </a:defRPr>
            </a:pPr>
            <a:r>
              <a:t>Clean</a:t>
            </a:r>
          </a:p>
        </p:txBody>
      </p:sp>
      <p:sp>
        <p:nvSpPr>
          <p:cNvPr id="8" name="Chevron 7"/>
          <p:cNvSpPr/>
          <p:nvPr/>
        </p:nvSpPr>
        <p:spPr>
          <a:xfrm>
            <a:off x="10259567" y="1993392"/>
            <a:ext cx="320040" cy="347472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0"/>
            <a:ext cx="1234440" cy="6858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74D"/>
                </a:solidFill>
              </a:defRPr>
            </a:pPr>
            <a: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83464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74D"/>
                </a:solidFill>
              </a:defRPr>
            </a:pPr>
            <a:r>
              <a:t>Key data-quality work</a:t>
            </a:r>
          </a:p>
          <a:p>
            <a:pPr>
              <a:spcAft>
                <a:spcPts val="900"/>
              </a:spcAft>
              <a:defRPr sz="1400">
                <a:solidFill>
                  <a:srgbClr val="2D2D2D"/>
                </a:solidFill>
              </a:defRPr>
            </a:pPr>
            <a:r>
              <a:t>• Standardized order-status values</a:t>
            </a:r>
          </a:p>
          <a:p>
            <a:pPr>
              <a:spcAft>
                <a:spcPts val="900"/>
              </a:spcAft>
              <a:defRPr sz="1400">
                <a:solidFill>
                  <a:srgbClr val="2D2D2D"/>
                </a:solidFill>
              </a:defRPr>
            </a:pPr>
            <a:r>
              <a:t>• Standardized payment-method values</a:t>
            </a:r>
          </a:p>
          <a:p>
            <a:pPr>
              <a:spcAft>
                <a:spcPts val="900"/>
              </a:spcAft>
              <a:defRPr sz="1400">
                <a:solidFill>
                  <a:srgbClr val="2D2D2D"/>
                </a:solidFill>
              </a:defRPr>
            </a:pPr>
            <a:r>
              <a:t>• Flagged missing/invalid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D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The main points management should take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73.76% of orders were successful; 14.3% were refunded and about 12% failed.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Payment-method success rates are very close, so payment method alone does not appear to explain most unsuccessful orders.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Order values are spread across four segments, with Medium-value orders forming the largest group.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A relatively small set of products contributes a large amount of successful order value.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The monthly trend shows fairly steady order activity, but time-based results are limited by missing/invalid order dates.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818120" y="1508760"/>
          <a:ext cx="35661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D"/>
                </a:solidFill>
              </a:defRPr>
            </a:pPr>
            <a:r>
              <a:t>Deep-Dive Insight: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The surprising result was how little success rates differed across payment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D"/>
                </a:solidFill>
              </a:defRPr>
            </a:pPr>
            <a:r>
              <a:t>Finding: UPI, wallet, card and cash all show success rates around the low-to-mid 70% range.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2606040"/>
          <a:ext cx="55778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20840" y="26060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</a:defRPr>
            </a:pPr>
            <a:r>
              <a:t>• Initial expectation: payment method might create a noticeable difference in order success.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</a:defRPr>
            </a:pPr>
            <a:r>
              <a:t>• Actual result: the rates are tightly grouped.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</a:defRPr>
            </a:pPr>
            <a:r>
              <a:t>• Additional check: compared the four payment categories after standardizing inconsistent labels.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</a:defRPr>
            </a:pPr>
            <a:r>
              <a:t>• Conclusion: payment method should be monitored, but operational or order-level factors likely need investigation before blaming one payment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D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Prioritized by likely business impact and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374D"/>
                </a:solidFill>
              </a:defRPr>
            </a:pPr>
            <a:r>
              <a:t>1. Investigate failed and refunded orders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Who: Operations + Payments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Do: Review failure/refund reasons by channel, product and order characteristics.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Impact: Reduce avoidable order loss and improve customer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10789920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374D"/>
                </a:solidFill>
              </a:defRPr>
            </a:pPr>
            <a:r>
              <a:t>2. Prioritize high-value products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Who: Category + Inventory teams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Do: Use the top-product ranking to protect availability and target promotions.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Impact: Protect revenue from products already generating strong successful order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789920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374D"/>
                </a:solidFill>
              </a:defRPr>
            </a:pPr>
            <a:r>
              <a:t>3. Improve order-status monitoring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Who: Operations + Data teams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Do: Create a regular KPI view for success, failure and refund rates.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Impact: Detect performance deterioration earlier and support faster corrective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D"/>
                </a:solidFill>
              </a:defRPr>
            </a:pPr>
            <a:r>
              <a:t>Expected Business Impact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How management can tell whether the recommendations are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Lower the percentage of failed and refunded orders.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Improve the successful-order rate without reducing customer choice of payment method.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Protect availability and revenue contribution from high-performing products.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Give managers a consistent view of order performance for faster operational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508760"/>
            <a:ext cx="22402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Track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Success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231343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Target: increase over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508760"/>
            <a:ext cx="22402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Track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Failed-order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31343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Target: decrease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246120"/>
            <a:ext cx="22402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Track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Refund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405079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Target: decrease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246120"/>
            <a:ext cx="224028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74D"/>
                </a:solidFill>
              </a:defRPr>
            </a:pPr>
            <a:r>
              <a:t>Track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Top-product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05079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Target: protect / grow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D"/>
                </a:solidFill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Use the findings as decision support, not as proof of causation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Data quality: the raw data contained inconsistent category labels. These were standardized during processing, but source-system controls should be improved.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Missing/invalid dates: the monthly trend cannot represent every order, so time-based conclusions should be treated cautiously.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The analysis is descriptive: it identifies relationships and patterns, but it cannot prove that a particular factor caused an order to succeed or fail.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Next step: analyze failure/refund reasons and order-level factors such as location, customer segment, product and order characteristics.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Next step: validate the findings on a newer time period and compare them with operational KPIs before making major policy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515600" cy="59436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374D"/>
                </a:solidFill>
              </a:defRPr>
            </a:pPr>
            <a:r>
              <a:t>Cannot safely conclude: that one payment method is the cause of failed orders.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